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914400"/>
            <a:ext cx="2286000" cy="2286000"/>
          </a:xfrm>
          <a:prstGeom prst="ellipse">
            <a:avLst/>
          </a:prstGeom>
          <a:solidFill>
            <a:srgbClr val="26354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55448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0972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5EEA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note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31520" y="17830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運用計画書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731520" y="2834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テック系情報発信によるブランディング戦略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31520" y="365760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" y="3840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keyaki  |  2026.03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noteを始めた目的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188720"/>
            <a:ext cx="73152" cy="10515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914400" y="1371600"/>
            <a:ext cx="685800" cy="6858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50876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20240" y="129844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個人ブランディング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920240" y="166420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転職・フリーランス案件獲得・エンジニア交流を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見据え、情報発信者としての市場価値を高める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" y="242316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2423160"/>
            <a:ext cx="73152" cy="105156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4" name="Shape 11"/>
          <p:cNvSpPr/>
          <p:nvPr/>
        </p:nvSpPr>
        <p:spPr>
          <a:xfrm>
            <a:off x="914400" y="2606040"/>
            <a:ext cx="685800" cy="685800"/>
          </a:xfrm>
          <a:prstGeom prst="ellipse">
            <a:avLst/>
          </a:prstGeom>
          <a:solidFill>
            <a:srgbClr val="0E7490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7432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920240" y="253288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社内DX推進の布石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920240" y="289864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エンジニア業務の可視化とテクノロジーへの興味喚起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最終目標：非エンジニアがClaude Codeで開発する風土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3657600"/>
            <a:ext cx="80467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48640" y="3657600"/>
            <a:ext cx="73152" cy="1051560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20" name="Shape 16"/>
          <p:cNvSpPr/>
          <p:nvPr/>
        </p:nvSpPr>
        <p:spPr>
          <a:xfrm>
            <a:off x="914400" y="3840480"/>
            <a:ext cx="685800" cy="685800"/>
          </a:xfrm>
          <a:prstGeom prst="ellipse">
            <a:avLst/>
          </a:prstGeom>
          <a:solidFill>
            <a:srgbClr val="115E59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977640"/>
            <a:ext cx="411480" cy="41148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920240" y="376732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技術の備忘録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920240" y="4133088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学んだ知識・ノウハウをアウトプットとして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定着させ、いつでも参照可能な状態にする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5" name="Text 20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3つの目的に優先順位をつけ、フェーズごとに注力ポイントを変えていく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現状分析（開始1週間）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3200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2344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1704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1,009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105156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全体ビュー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651760" y="109728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2344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154680" y="11704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46</a:t>
            </a:r>
            <a:endParaRPr lang="en-US" sz="2800" dirty="0"/>
          </a:p>
        </p:txBody>
      </p:sp>
      <p:sp>
        <p:nvSpPr>
          <p:cNvPr id="13" name="Text 9"/>
          <p:cNvSpPr/>
          <p:nvPr/>
        </p:nvSpPr>
        <p:spPr>
          <a:xfrm>
            <a:off x="315468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スキ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109728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23444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57800" y="11704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7" name="Text 12"/>
          <p:cNvSpPr/>
          <p:nvPr/>
        </p:nvSpPr>
        <p:spPr>
          <a:xfrm>
            <a:off x="525780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コメント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858000" y="1097280"/>
            <a:ext cx="18288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23444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60920" y="11704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</a:t>
            </a:r>
            <a:endParaRPr lang="en-US" sz="2800" dirty="0"/>
          </a:p>
        </p:txBody>
      </p:sp>
      <p:sp>
        <p:nvSpPr>
          <p:cNvPr id="21" name="Text 15"/>
          <p:cNvSpPr/>
          <p:nvPr/>
        </p:nvSpPr>
        <p:spPr>
          <a:xfrm>
            <a:off x="7360920" y="1600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フォロワー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48640" y="2377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記事別パフォーマンス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804672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1097280"/>
                <a:gridCol w="914400"/>
                <a:gridCol w="10058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記事タイトル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ビュー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スキ率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Obsidianが最強のツールだと思う理由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Codeを使い倒すエンジニアのリアル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Obsidianを最強のノートアプリに魔改造した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CodeでGoogle DriveのMCP追加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AIには敬語を使うべきか？[雑談]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+ Gemini API 自律型リマインドBot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17"/>
          <p:cNvSpPr/>
          <p:nvPr/>
        </p:nvSpPr>
        <p:spPr>
          <a:xfrm>
            <a:off x="5760720" y="2331720"/>
            <a:ext cx="2834640" cy="32004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0" y="2350008"/>
            <a:ext cx="228600" cy="2286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17220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共感型の記事ほどスキ率が高い傾向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ターゲット読者の定義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32004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25603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15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エンジニア・IT関心層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1874520"/>
            <a:ext cx="274320" cy="274320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AI/生成AIに興味がある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エンジニア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2788920"/>
            <a:ext cx="274320" cy="274320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ツール活用で生産性を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上げたい開発者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703320"/>
            <a:ext cx="274320" cy="274320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188720" y="3657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転職市場で同じ領域の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リクルーター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83280" y="109728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383280" y="1097280"/>
            <a:ext cx="2560320" cy="5029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1" name="Text 19"/>
          <p:cNvSpPr/>
          <p:nvPr/>
        </p:nvSpPr>
        <p:spPr>
          <a:xfrm>
            <a:off x="3383280" y="1115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非IT企業のDX推進者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11880" y="1874520"/>
            <a:ext cx="274320" cy="274320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02336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社内DXを検討している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非エンジニア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611880" y="2788920"/>
            <a:ext cx="274320" cy="274320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02336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不動産業界で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IT活用に関心がある人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11880" y="3703320"/>
            <a:ext cx="274320" cy="274320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30" name="Text 28"/>
          <p:cNvSpPr/>
          <p:nvPr/>
        </p:nvSpPr>
        <p:spPr>
          <a:xfrm>
            <a:off x="361188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749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23360" y="3657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GASやノーコードで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業務改善したい人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109728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17920" y="1097280"/>
            <a:ext cx="2560320" cy="502920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4" name="Text 32"/>
          <p:cNvSpPr/>
          <p:nvPr/>
        </p:nvSpPr>
        <p:spPr>
          <a:xfrm>
            <a:off x="6217920" y="11155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1316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社内メンバー（将来）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46520" y="1874520"/>
            <a:ext cx="274320" cy="274320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1874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85800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テクノロジーに興味を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持ち始めた同僚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46520" y="2788920"/>
            <a:ext cx="274320" cy="274320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40" name="Text 38"/>
          <p:cNvSpPr/>
          <p:nvPr/>
        </p:nvSpPr>
        <p:spPr>
          <a:xfrm>
            <a:off x="6446520" y="2788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858000" y="27432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エンジニアの仕事内容を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知りたい社員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446520" y="3703320"/>
            <a:ext cx="274320" cy="274320"/>
          </a:xfrm>
          <a:prstGeom prst="ellipse">
            <a:avLst/>
          </a:prstGeom>
          <a:solidFill>
            <a:srgbClr val="ECFDF5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58000" y="36576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Codeの</a:t>
            </a:r>
            <a:endParaRPr lang="en-US" sz="10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潜在的ユーザー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コンテンツ戦略：4つの記事カテゴリ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4114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73152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0" y="1207008"/>
            <a:ext cx="64008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207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共感・体験型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1536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個人の体験や考えを軸にした記事。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noteで最も拡散されやすい。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057400"/>
            <a:ext cx="34747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0848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例：「非IT企業エンジニアの孤独と楽しさ」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「Obsidianに乗り換えた本当の理由」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73152" cy="169164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6" name="Shape 14"/>
          <p:cNvSpPr/>
          <p:nvPr/>
        </p:nvSpPr>
        <p:spPr>
          <a:xfrm>
            <a:off x="7863840" y="1207008"/>
            <a:ext cx="640080" cy="2743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7" name="Text 15"/>
          <p:cNvSpPr/>
          <p:nvPr/>
        </p:nvSpPr>
        <p:spPr>
          <a:xfrm>
            <a:off x="7863840" y="1207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25%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社内DX・業務改善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029200" y="1536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GASやノーコードで業務を変えた話。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社員向けにも響く実践系。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2057400"/>
            <a:ext cx="34747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5166360" y="208483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例：「Excelマクロを卒業してGASに移行した話」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「社内チャットBotを1日で作った方法」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297180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2971800"/>
            <a:ext cx="73152" cy="1691640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3081528"/>
            <a:ext cx="640080" cy="274320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0" y="3081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ツール紹介・レビュー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22960" y="34107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ツールの使い方や比較。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検索流入を狙うSEO系コンテンツ。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" y="3931920"/>
            <a:ext cx="34747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960120" y="39593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例：「Claude Code vs Cursor 徹底比較」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「Obsidian必須プラグイン10選」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2971800"/>
            <a:ext cx="39319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2971800"/>
            <a:ext cx="73152" cy="16916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2" name="Shape 30"/>
          <p:cNvSpPr/>
          <p:nvPr/>
        </p:nvSpPr>
        <p:spPr>
          <a:xfrm>
            <a:off x="7863840" y="3081528"/>
            <a:ext cx="640080" cy="2743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0" y="308152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雑談・コラム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029200" y="341071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軽い読み物でフォロワーとの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距離を縮める。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3931920"/>
            <a:ext cx="3474720" cy="5943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3959352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例：「AIには敬語を使うべきか」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「エンジニアの朝ルーティン」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投稿スケジュール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27432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234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週間リズム（週2〜3本）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1737360"/>
            <a:ext cx="822960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3736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火曜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28800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メイン記事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828800" y="20574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共感型 or 社内DX系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（しっかり書く）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697480"/>
            <a:ext cx="822960" cy="73152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69748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木曜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2880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サブ記事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828800" y="30175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ツール紹介 or ハウツー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（検索流入狙い）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3657600"/>
            <a:ext cx="822960" cy="73152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657600"/>
            <a:ext cx="822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土曜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3703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軽い記事（隔週）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28800" y="39776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雑談・コラム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（気軽に読める内容）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2920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運用のポイント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783080"/>
            <a:ext cx="228600" cy="2286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349240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投稿時間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349240" y="199339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朝7〜8時 or 昼12時台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noteのアクティブ時間帯に合わせる</a:t>
            </a:r>
            <a:endParaRPr lang="en-US" sz="9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514600"/>
            <a:ext cx="228600" cy="2286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34924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タイトル設計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5349240" y="27249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「主観 + 具体」の組み合わせ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例：「〇〇が最強だと思う理由」</a:t>
            </a:r>
            <a:endParaRPr lang="en-US" sz="9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3246120"/>
            <a:ext cx="228600" cy="2286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534924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サムネイル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349240" y="34564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統一感のあるデザインで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ブランド認知を高める</a:t>
            </a:r>
            <a:endParaRPr lang="en-US" sz="9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977640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349240" y="39319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SNS連携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349240" y="41879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X（Twitter）でも発信し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note外からの流入を増やす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フェーズ別ロードマップ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3657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2560320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1：基盤構築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〜3ヶ月目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目標</a:t>
            </a:r>
            <a:endParaRPr lang="en-US" sz="1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258568"/>
            <a:ext cx="182880" cy="1828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記事30本を達成</a:t>
            </a:r>
            <a:endParaRPr lang="en-US" sz="10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78608"/>
            <a:ext cx="182880" cy="1828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フォロワー100人</a:t>
            </a:r>
            <a:endParaRPr lang="en-US" sz="10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898648"/>
            <a:ext cx="182880" cy="1828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X連携開始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31520" y="3337560"/>
            <a:ext cx="219456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8" name="Text 13"/>
          <p:cNvSpPr/>
          <p:nvPr/>
        </p:nvSpPr>
        <p:spPr>
          <a:xfrm>
            <a:off x="731520" y="3474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注力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73152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共感型記事で認知拡大。「不動産×テック」のポジションを確立する。</a:t>
            </a:r>
            <a:endParaRPr lang="en-US" sz="10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2651760"/>
            <a:ext cx="274320" cy="27432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3383280" y="109728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3383280" y="1097280"/>
            <a:ext cx="2560320" cy="68580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23" name="Text 17"/>
          <p:cNvSpPr/>
          <p:nvPr/>
        </p:nvSpPr>
        <p:spPr>
          <a:xfrm>
            <a:off x="338328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2：信頼構築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338328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4〜6ヶ月目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356616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目標</a:t>
            </a:r>
            <a:endParaRPr lang="en-US" sz="10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2258568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8620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月間3,000PV安定</a:t>
            </a:r>
            <a:endParaRPr lang="en-US" sz="10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1880" y="2578608"/>
            <a:ext cx="182880" cy="1828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88620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フォロワー300人</a:t>
            </a:r>
            <a:endParaRPr lang="en-US" sz="10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2898648"/>
            <a:ext cx="182880" cy="18288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388620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社員向け公開開始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3566160" y="3337560"/>
            <a:ext cx="219456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24"/>
          <p:cNvSpPr/>
          <p:nvPr/>
        </p:nvSpPr>
        <p:spPr>
          <a:xfrm>
            <a:off x="3566160" y="3474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注力</a:t>
            </a:r>
            <a:endParaRPr lang="en-US" sz="1000" dirty="0"/>
          </a:p>
        </p:txBody>
      </p:sp>
      <p:sp>
        <p:nvSpPr>
          <p:cNvPr id="34" name="Text 25"/>
          <p:cNvSpPr/>
          <p:nvPr/>
        </p:nvSpPr>
        <p:spPr>
          <a:xfrm>
            <a:off x="356616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シリーズ記事やマガジン整理で回遊率UP。社員にも段階的に公開。</a:t>
            </a:r>
            <a:endParaRPr lang="en-US" sz="10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0760" y="2651760"/>
            <a:ext cx="274320" cy="27432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6217920" y="1097280"/>
            <a:ext cx="256032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27"/>
          <p:cNvSpPr/>
          <p:nvPr/>
        </p:nvSpPr>
        <p:spPr>
          <a:xfrm>
            <a:off x="6217920" y="1097280"/>
            <a:ext cx="2560320" cy="685800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8" name="Text 28"/>
          <p:cNvSpPr/>
          <p:nvPr/>
        </p:nvSpPr>
        <p:spPr>
          <a:xfrm>
            <a:off x="6217920" y="11430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Phase 3：収穫期</a:t>
            </a:r>
            <a:endParaRPr lang="en-US" sz="1300" dirty="0"/>
          </a:p>
        </p:txBody>
      </p:sp>
      <p:sp>
        <p:nvSpPr>
          <p:cNvPr id="39" name="Text 29"/>
          <p:cNvSpPr/>
          <p:nvPr/>
        </p:nvSpPr>
        <p:spPr>
          <a:xfrm>
            <a:off x="621792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7〜12ヶ月目</a:t>
            </a:r>
            <a:endParaRPr lang="en-US" sz="1100" dirty="0"/>
          </a:p>
        </p:txBody>
      </p:sp>
      <p:sp>
        <p:nvSpPr>
          <p:cNvPr id="40" name="Text 30"/>
          <p:cNvSpPr/>
          <p:nvPr/>
        </p:nvSpPr>
        <p:spPr>
          <a:xfrm>
            <a:off x="6400800" y="19659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目標</a:t>
            </a:r>
            <a:endParaRPr lang="en-US" sz="10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2258568"/>
            <a:ext cx="182880" cy="18288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672084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月間10,000PV</a:t>
            </a:r>
            <a:endParaRPr lang="en-US" sz="1050" dirty="0"/>
          </a:p>
        </p:txBody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46520" y="2578608"/>
            <a:ext cx="182880" cy="182880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720840" y="25603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被リンク・登壇依頼</a:t>
            </a:r>
            <a:endParaRPr lang="en-US" sz="1050" dirty="0"/>
          </a:p>
        </p:txBody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2898648"/>
            <a:ext cx="182880" cy="182880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6720840" y="28803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社内Claude Code勉強会</a:t>
            </a:r>
            <a:endParaRPr lang="en-US" sz="1050" dirty="0"/>
          </a:p>
        </p:txBody>
      </p:sp>
      <p:sp>
        <p:nvSpPr>
          <p:cNvPr id="47" name="Shape 34"/>
          <p:cNvSpPr/>
          <p:nvPr/>
        </p:nvSpPr>
        <p:spPr>
          <a:xfrm>
            <a:off x="6400800" y="3337560"/>
            <a:ext cx="2194560" cy="36576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35"/>
          <p:cNvSpPr/>
          <p:nvPr/>
        </p:nvSpPr>
        <p:spPr>
          <a:xfrm>
            <a:off x="6400800" y="3474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注力</a:t>
            </a:r>
            <a:endParaRPr lang="en-US" sz="1000" dirty="0"/>
          </a:p>
        </p:txBody>
      </p:sp>
      <p:sp>
        <p:nvSpPr>
          <p:cNvPr id="49" name="Text 36"/>
          <p:cNvSpPr/>
          <p:nvPr/>
        </p:nvSpPr>
        <p:spPr>
          <a:xfrm>
            <a:off x="6400800" y="37033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ポートフォリオとして確立。転職・フリーランス案件の引き合いを生む。</a:t>
            </a:r>
            <a:endParaRPr lang="en-US" sz="1000" dirty="0"/>
          </a:p>
        </p:txBody>
      </p:sp>
      <p:sp>
        <p:nvSpPr>
          <p:cNvPr id="50" name="Shape 37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プラットフォーム使い分け戦略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45720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097280"/>
            <a:ext cx="39319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972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note（メイン）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645920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共感・体験ベースの記事を中心に投稿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「なぜ」「どう感じたか」を重視した構成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社員にも読みやすいプラットフォーム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マガジン機能でカテゴリ分類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3840480" cy="411480"/>
          </a:xfrm>
          <a:prstGeom prst="rect">
            <a:avLst/>
          </a:prstGeom>
          <a:solidFill>
            <a:srgbClr val="0E749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Zenn / Qiita（サブ）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0" y="16459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技術的にディープな内容はこちらに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MCP設定手順、API実装など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エンジニアコミュニティへのリーチ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noteからリンクで相互送客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200400"/>
            <a:ext cx="73152" cy="13716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X（Twitter）：拡散エンジン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記事のエッセンスをスレッド形式で発信し、noteへ誘導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日常的なテック系のつぶやきでフォロワーとの接点を維持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ハッシュタグ例：#エンジニアと繋がりたい  #社内DX  #ClaudeCode  #生成AI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KPI設定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77724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〜3ヶ月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4〜6ヶ月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7〜12ヶ月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累計記事数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月間PV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フォロワー数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平均スキ率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5%以上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7%以上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8%以上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フォロワー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社内公開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準備中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限定公開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全社公開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A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023360"/>
            <a:ext cx="8046720" cy="640080"/>
          </a:xfrm>
          <a:prstGeom prst="rect">
            <a:avLst/>
          </a:prstGeom>
          <a:solidFill>
            <a:srgbClr val="ECFDF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13308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88720" y="40690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KPIは月1回振り返り、達成度に応じて柔軟に調整する。数字に追われず「継続」を最優先に。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96012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13716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「不動産×テック」エンジニアという独自のポジションで発信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2996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9659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共感型コンテンツを軸にnoteの読者層に最適化</a:t>
            </a:r>
            <a:endParaRPr lang="en-US" sz="15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24328"/>
            <a:ext cx="274320" cy="27432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2560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Zenn/Qiitaとの使い分けで技術の深さもカバー</a:t>
            </a:r>
            <a:endParaRPr lang="en-US" sz="15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18688"/>
            <a:ext cx="274320" cy="27432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8720" y="3154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週2〜3本の持続可能なペースで質を重視</a:t>
            </a:r>
            <a:endParaRPr lang="en-US" sz="15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13048"/>
            <a:ext cx="274320" cy="2743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88720" y="37490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12ヶ月後にはキャリアの武器となるポートフォリオへ</a:t>
            </a:r>
            <a:endParaRPr lang="en-US" sz="1500" dirty="0"/>
          </a:p>
        </p:txBody>
      </p:sp>
      <p:sp>
        <p:nvSpPr>
          <p:cNvPr id="15" name="Shape 8"/>
          <p:cNvSpPr/>
          <p:nvPr/>
        </p:nvSpPr>
        <p:spPr>
          <a:xfrm>
            <a:off x="731520" y="411480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187952"/>
            <a:ext cx="274320" cy="27432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25880" y="41148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まずは3ヶ月、30記事。小さく始めて、大きく育てる。</a:t>
            </a:r>
            <a:endParaRPr lang="en-US" sz="1400" dirty="0"/>
          </a:p>
        </p:txBody>
      </p:sp>
      <p:sp>
        <p:nvSpPr>
          <p:cNvPr id="18" name="Shape 10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D948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note運用計画書</dc:title>
  <dc:subject>PptxGenJS Presentation</dc:subject>
  <dc:creator>keyaki</dc:creator>
  <cp:lastModifiedBy>keyaki</cp:lastModifiedBy>
  <cp:revision>1</cp:revision>
  <dcterms:created xsi:type="dcterms:W3CDTF">2026-03-06T11:04:06Z</dcterms:created>
  <dcterms:modified xsi:type="dcterms:W3CDTF">2026-03-06T11:04:06Z</dcterms:modified>
</cp:coreProperties>
</file>